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Roboto Slab"/>
      <p:regular r:id="rId27"/>
      <p:bold r:id="rId28"/>
    </p:embeddedFon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jVTtUII/u+J8KW4LrVDjaq+Hug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lab-bold.fntdata"/><Relationship Id="rId27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a273eb02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a273eb0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a273eb022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a273eb02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a273eb022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a273eb02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a273eb022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a273eb02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a273eb022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a273eb02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a273eb022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a273eb02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a273eb022_0_5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a273eb022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a273eb022_0_5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a273eb022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a273eb022_0_5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4a273eb022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a273eb022_0_5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a273eb022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a273eb022_0_5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a273eb022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a273eb022_0_5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a273eb022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4a273eb022_0_465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4a273eb022_0_465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4a273eb022_0_465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4a273eb022_0_465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4a273eb022_0_465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4a273eb022_0_4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4a273eb022_0_472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4a273eb022_0_472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4a273eb022_0_4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4a273eb022_0_476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4a273eb022_0_47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4a273eb022_0_476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4a273eb022_0_47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4a273eb022_0_481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4a273eb022_0_481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4a273eb022_0_481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4a273eb022_0_481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4a273eb022_0_4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4a273eb022_0_487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4a273eb022_0_48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4a273eb022_0_490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4a273eb022_0_490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4a273eb022_0_490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4a273eb022_0_49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4a273eb022_0_495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4a273eb022_0_49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4a273eb022_0_498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4a273eb022_0_498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4a273eb022_0_498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4a273eb022_0_498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4a273eb022_0_498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4a273eb022_0_49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4a273eb022_0_505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4a273eb022_0_50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a273eb022_0_508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4a273eb022_0_508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4a273eb022_0_508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4a273eb022_0_50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a273eb022_0_5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a273eb022_0_5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g34a273eb022_0_5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g34a273eb022_0_5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4a273eb022_0_5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4a273eb022_0_5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4a273eb022_0_461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4a273eb022_0_461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4a273eb022_0_4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a273eb022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Ambiente Web</a:t>
            </a:r>
            <a:endParaRPr/>
          </a:p>
        </p:txBody>
      </p:sp>
      <p:sp>
        <p:nvSpPr>
          <p:cNvPr id="70" name="Google Shape;70;g34a273eb022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/>
              <a:t>Arquitetura cliente-servidor no ambiente web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600"/>
              <a:t>Prof. Felipe Alves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da Apresentação</a:t>
            </a:r>
            <a:endParaRPr/>
          </a:p>
        </p:txBody>
      </p:sp>
      <p:sp>
        <p:nvSpPr>
          <p:cNvPr id="76" name="Google Shape;76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Apresentar o modelo de arquitetura cliente-servidor no ambiente web, explorando seu funcionamento, evolução e os benefícios do modelo de múltiplas camadas.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Ambiente Web</a:t>
            </a:r>
            <a:endParaRPr/>
          </a:p>
        </p:txBody>
      </p:sp>
      <p:sp>
        <p:nvSpPr>
          <p:cNvPr id="82" name="Google Shape;82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Conecta usuários e sistemas por meio da internet ou redes internas.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Permite a troca de informações em tempo real.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Suporta modelos distribuídos como o cliente x servidor.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Cliente x Servidor</a:t>
            </a:r>
            <a:endParaRPr/>
          </a:p>
        </p:txBody>
      </p:sp>
      <p:sp>
        <p:nvSpPr>
          <p:cNvPr id="88" name="Google Shape;88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Conceito básico: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178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Separação entre quem solicita (cliente) e quem responde/processa (servidor).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Funcionamento: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1780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Requisição → Processamento → Resposta.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Dispositivos cliente: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1780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PCs, tablets, smartphones.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1780" lvl="2" marL="1143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Equipamento robusto, funcionando continuamente.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Origem do Modelo Cliente x Servidor</a:t>
            </a:r>
            <a:endParaRPr/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Criado pela Xerox PARC nos anos 1970.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Alternativa ao modelo centralizado (mainframes).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Separação entre:</a:t>
            </a:r>
            <a:endParaRPr/>
          </a:p>
          <a:p>
            <a:pPr indent="-317500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Processamento</a:t>
            </a:r>
            <a:endParaRPr/>
          </a:p>
          <a:p>
            <a:pPr indent="-317500" lvl="2" marL="11430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Armazenamento de dados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 e Servidor em Redes Internas</a:t>
            </a:r>
            <a:endParaRPr/>
          </a:p>
        </p:txBody>
      </p:sp>
      <p:sp>
        <p:nvSpPr>
          <p:cNvPr id="100" name="Google Shape;100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Servidores oferecem serviços como:</a:t>
            </a:r>
            <a:endParaRPr/>
          </a:p>
          <a:p>
            <a:pPr indent="-317500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Armazenamento de arquivos</a:t>
            </a:r>
            <a:endParaRPr/>
          </a:p>
          <a:p>
            <a:pPr indent="-317500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Impressão</a:t>
            </a:r>
            <a:endParaRPr/>
          </a:p>
          <a:p>
            <a:pPr indent="-317500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E-mails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 acessam esses serviços através da rede.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Aplicações e o Conceito de Camadas</a:t>
            </a:r>
            <a:endParaRPr/>
          </a:p>
        </p:txBody>
      </p:sp>
      <p:sp>
        <p:nvSpPr>
          <p:cNvPr id="106" name="Google Shape;106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Evolução das aplicações trouxe o modelo em camadas.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Otimiza desenvolvimento e manutenção.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Duas Camadas</a:t>
            </a:r>
            <a:endParaRPr/>
          </a:p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226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com o usuário + lógica da aplicação.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2260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Processamento e armazenamento de dados.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Problemas: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2260" lvl="2" marL="1143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Necessidade de instalar/atualizar em cada cliente.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a273eb022_0_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4a273eb022_0_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g34a273eb022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75" y="894378"/>
            <a:ext cx="8803175" cy="49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Três Camadas</a:t>
            </a:r>
            <a:endParaRPr/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Camadas:</a:t>
            </a:r>
            <a:endParaRPr/>
          </a:p>
          <a:p>
            <a:pPr indent="-317500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</a:t>
            </a:r>
            <a:endParaRPr/>
          </a:p>
          <a:p>
            <a:pPr indent="-317500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Aplicação</a:t>
            </a:r>
            <a:endParaRPr/>
          </a:p>
          <a:p>
            <a:pPr indent="-317500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Dados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Vantagem: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centralizada em servidor web.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 acessa via navegador.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Servidores: Web, Aplicações, Dados.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a273eb022_0_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4a273eb022_0_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g34a273eb022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66" y="781925"/>
            <a:ext cx="8906076" cy="50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Quatro Camadas (ou N Camadas)</a:t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124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Divisão especializada:</a:t>
            </a:r>
            <a:endParaRPr/>
          </a:p>
          <a:p>
            <a:pPr indent="-287019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com o usuário</a:t>
            </a:r>
            <a:endParaRPr/>
          </a:p>
          <a:p>
            <a:pPr indent="-287019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Lógica de negócio</a:t>
            </a:r>
            <a:endParaRPr/>
          </a:p>
          <a:p>
            <a:pPr indent="-287019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Gestão de dados</a:t>
            </a:r>
            <a:endParaRPr/>
          </a:p>
          <a:p>
            <a:pPr indent="-287019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Comunicação web</a:t>
            </a:r>
            <a:endParaRPr/>
          </a:p>
          <a:p>
            <a:pPr indent="-3124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Benefícios:</a:t>
            </a:r>
            <a:endParaRPr/>
          </a:p>
          <a:p>
            <a:pPr indent="-287019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Escalabilidade</a:t>
            </a:r>
            <a:endParaRPr/>
          </a:p>
          <a:p>
            <a:pPr indent="-287019" lvl="2" marL="11430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Manutenção facilitada</a:t>
            </a:r>
            <a:endParaRPr/>
          </a:p>
          <a:p>
            <a:pPr indent="-287019" lvl="2" marL="11430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■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Reutilização de componentes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a273eb022_0_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4a273eb022_0_2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g34a273eb022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" y="594775"/>
            <a:ext cx="9144001" cy="500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a273eb022_0_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4a273eb022_0_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g34a273eb022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6825"/>
            <a:ext cx="9143999" cy="574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a273eb022_0_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Ambiente Web e Comunicação</a:t>
            </a:r>
            <a:endParaRPr/>
          </a:p>
        </p:txBody>
      </p:sp>
      <p:sp>
        <p:nvSpPr>
          <p:cNvPr id="158" name="Google Shape;158;g34a273eb022_0_3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/>
              <a:t>Ambiente Web</a:t>
            </a:r>
            <a:endParaRPr sz="2600"/>
          </a:p>
          <a:p>
            <a:pPr indent="-393700" lvl="0" marL="457200" rtl="0" algn="l"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Aplicações migraram das redes locais para a internet.</a:t>
            </a:r>
            <a:endParaRPr sz="2600"/>
          </a:p>
          <a:p>
            <a:pPr indent="-393700" lvl="0" marL="457200" rtl="0" algn="l"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Usuários acessam via navegadores ou apps, sem instalar softwares adicionais.</a:t>
            </a:r>
            <a:endParaRPr sz="2600"/>
          </a:p>
          <a:p>
            <a:pPr indent="-393700" lvl="0" marL="457200" rtl="0" algn="l">
              <a:spcBef>
                <a:spcPts val="120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Modelo de quatro camadas facilita o acesso e organização.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a273eb022_0_5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Benefícios do Modelo Web</a:t>
            </a:r>
            <a:endParaRPr/>
          </a:p>
        </p:txBody>
      </p:sp>
      <p:sp>
        <p:nvSpPr>
          <p:cNvPr id="164" name="Google Shape;164;g34a273eb022_0_5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500"/>
              <a:t>Vantagens da arquitetura moderna</a:t>
            </a:r>
            <a:endParaRPr sz="2500"/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Separação de responsabilidades entre servidores.</a:t>
            </a:r>
            <a:endParaRPr sz="2500"/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Portabilidade: qualquer dispositivo com navegador pode acessar.</a:t>
            </a:r>
            <a:endParaRPr sz="2500"/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Escalabilidade: fácil adaptação a diferentes volumes de acesso.</a:t>
            </a:r>
            <a:endParaRPr sz="2500"/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Robustez: melhor desempenho e manutenção.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4a273eb022_0_5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Comunicação no Ambiente Web</a:t>
            </a:r>
            <a:endParaRPr/>
          </a:p>
        </p:txBody>
      </p:sp>
      <p:sp>
        <p:nvSpPr>
          <p:cNvPr id="170" name="Google Shape;170;g34a273eb022_0_5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700"/>
              <a:t>Como os dados trafegam:</a:t>
            </a:r>
            <a:endParaRPr sz="2700"/>
          </a:p>
          <a:p>
            <a:pPr indent="-400050" lvl="0" marL="457200" rtl="0" algn="l">
              <a:spcBef>
                <a:spcPts val="120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Comunicação acontece via internet.</a:t>
            </a:r>
            <a:br>
              <a:rPr lang="en-US" sz="2700"/>
            </a:br>
            <a:endParaRPr sz="2700"/>
          </a:p>
          <a:p>
            <a:pPr indent="-400050" lvl="0" marL="457200" rtl="0" algn="l">
              <a:spcBef>
                <a:spcPts val="120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Uso do protocolo HTTP (HyperText Transfer Protocol).</a:t>
            </a:r>
            <a:br>
              <a:rPr lang="en-US" sz="2700"/>
            </a:br>
            <a:endParaRPr sz="2700"/>
          </a:p>
          <a:p>
            <a:pPr indent="-400050" lvl="0" marL="457200" rtl="0" algn="l">
              <a:spcBef>
                <a:spcPts val="1200"/>
              </a:spcBef>
              <a:spcAft>
                <a:spcPts val="1200"/>
              </a:spcAft>
              <a:buSzPts val="2700"/>
              <a:buChar char="●"/>
            </a:pPr>
            <a:r>
              <a:rPr lang="en-US" sz="2700"/>
              <a:t>Cliente envia requisição, servidor responde com os dados processados.</a:t>
            </a:r>
            <a:endParaRPr sz="2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a273eb022_0_5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 Prático</a:t>
            </a:r>
            <a:endParaRPr/>
          </a:p>
        </p:txBody>
      </p:sp>
      <p:sp>
        <p:nvSpPr>
          <p:cNvPr id="176" name="Google Shape;176;g34a273eb022_0_537"/>
          <p:cNvSpPr txBox="1"/>
          <p:nvPr>
            <p:ph idx="1" type="body"/>
          </p:nvPr>
        </p:nvSpPr>
        <p:spPr>
          <a:xfrm>
            <a:off x="457200" y="121415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500"/>
              <a:t>Funcionamento básico da web</a:t>
            </a:r>
            <a:endParaRPr sz="2500"/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Cliente solicita Listar-TV.php.</a:t>
            </a:r>
            <a:endParaRPr sz="2500"/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Servidor processa e responde com Listagem-TV.php.</a:t>
            </a:r>
            <a:endParaRPr sz="2500"/>
          </a:p>
          <a:p>
            <a:pPr indent="-387350" lvl="0" marL="457200" rtl="0" algn="l">
              <a:spcBef>
                <a:spcPts val="1200"/>
              </a:spcBef>
              <a:spcAft>
                <a:spcPts val="1200"/>
              </a:spcAft>
              <a:buSzPts val="2500"/>
              <a:buChar char="●"/>
            </a:pPr>
            <a:r>
              <a:rPr lang="en-US" sz="2500"/>
              <a:t>Aplicações como sites de notícias, e-commerce e redes sociais funcionam assim.</a:t>
            </a:r>
            <a:endParaRPr sz="2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a273eb022_0_5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4a273eb022_0_56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g34a273eb022_0_5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989651"/>
            <a:ext cx="9143999" cy="4060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a273eb022_0_5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Serviços PUSH</a:t>
            </a:r>
            <a:endParaRPr/>
          </a:p>
        </p:txBody>
      </p:sp>
      <p:sp>
        <p:nvSpPr>
          <p:cNvPr id="189" name="Google Shape;189;g34a273eb022_0_54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</a:t>
            </a:r>
            <a:r>
              <a:rPr lang="en-US"/>
              <a:t>omunicação ativa do servidor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Diferente do modelo tradicional (requisição pelo cliente).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Servidores enviam dados espontaneamente.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Exemplo: notificações em tempo real no celular.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g34a273eb022_0_5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1800" y="3808750"/>
            <a:ext cx="4819175" cy="26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273eb022_0_5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Client Side x Server Side</a:t>
            </a:r>
            <a:endParaRPr/>
          </a:p>
        </p:txBody>
      </p:sp>
      <p:sp>
        <p:nvSpPr>
          <p:cNvPr id="196" name="Google Shape;196;g34a273eb022_0_55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Divisão de tarefas</a:t>
            </a:r>
            <a:endParaRPr sz="2400"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Client Side: roda no navegador (HTML, CSS, JavaScript).</a:t>
            </a:r>
            <a:br>
              <a:rPr lang="en-US" sz="2400"/>
            </a:br>
            <a:endParaRPr sz="2400"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Server Side: roda no servidor (PHP, Node.js, Python).</a:t>
            </a:r>
            <a:br>
              <a:rPr lang="en-US" sz="2400"/>
            </a:br>
            <a:endParaRPr sz="2400"/>
          </a:p>
          <a:p>
            <a:pPr indent="-381000" lvl="0" marL="457200" rtl="0" algn="l">
              <a:spcBef>
                <a:spcPts val="1200"/>
              </a:spcBef>
              <a:spcAft>
                <a:spcPts val="1200"/>
              </a:spcAft>
              <a:buSzPts val="2400"/>
              <a:buChar char="●"/>
            </a:pPr>
            <a:r>
              <a:rPr lang="en-US" sz="2400"/>
              <a:t>Cliente lida com a interface; servidor processa dados e lógica da aplicação.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